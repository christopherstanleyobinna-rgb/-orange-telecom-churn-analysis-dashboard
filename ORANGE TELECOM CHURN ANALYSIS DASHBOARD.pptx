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3/18/2026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3/18/2026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02895-A49D-274A-CAA1-1F308A7E7004}"/>
              </a:ext>
            </a:extLst>
          </p:cNvPr>
          <p:cNvSpPr>
            <a:spLocks noGrp="1"/>
          </p:cNvSpPr>
          <p:nvPr>
            <p:ph type="ctrTitle"/>
          </p:nvPr>
        </p:nvSpPr>
        <p:spPr>
          <a:xfrm>
            <a:off x="254623" y="99419"/>
            <a:ext cx="8825658" cy="3329581"/>
          </a:xfrm>
        </p:spPr>
        <p:txBody>
          <a:bodyPr/>
          <a:lstStyle/>
          <a:p>
            <a:r>
              <a:rPr lang="en-US" b="1" dirty="0">
                <a:solidFill>
                  <a:schemeClr val="bg1"/>
                </a:solidFill>
              </a:rPr>
              <a:t>ORANGE TELECOM CHURN ANALYSIS DASHBOARD</a:t>
            </a:r>
          </a:p>
        </p:txBody>
      </p:sp>
      <p:pic>
        <p:nvPicPr>
          <p:cNvPr id="5" name="Picture 4">
            <a:extLst>
              <a:ext uri="{FF2B5EF4-FFF2-40B4-BE49-F238E27FC236}">
                <a16:creationId xmlns:a16="http://schemas.microsoft.com/office/drawing/2014/main" id="{13178FC9-54A7-5ACE-F6A0-D06990718E84}"/>
              </a:ext>
            </a:extLst>
          </p:cNvPr>
          <p:cNvPicPr>
            <a:picLocks noChangeAspect="1"/>
          </p:cNvPicPr>
          <p:nvPr/>
        </p:nvPicPr>
        <p:blipFill>
          <a:blip r:embed="rId2"/>
          <a:stretch>
            <a:fillRect/>
          </a:stretch>
        </p:blipFill>
        <p:spPr>
          <a:xfrm>
            <a:off x="5964702" y="2630293"/>
            <a:ext cx="6227298" cy="4227707"/>
          </a:xfrm>
          <a:prstGeom prst="rect">
            <a:avLst/>
          </a:prstGeom>
        </p:spPr>
      </p:pic>
    </p:spTree>
    <p:extLst>
      <p:ext uri="{BB962C8B-B14F-4D97-AF65-F5344CB8AC3E}">
        <p14:creationId xmlns:p14="http://schemas.microsoft.com/office/powerpoint/2010/main" val="1782227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63CA-C23E-B8D5-EB6A-9BAEC5315381}"/>
              </a:ext>
            </a:extLst>
          </p:cNvPr>
          <p:cNvSpPr>
            <a:spLocks noGrp="1"/>
          </p:cNvSpPr>
          <p:nvPr>
            <p:ph type="title"/>
          </p:nvPr>
        </p:nvSpPr>
        <p:spPr>
          <a:xfrm>
            <a:off x="646111" y="452718"/>
            <a:ext cx="9404723" cy="1038457"/>
          </a:xfrm>
        </p:spPr>
        <p:txBody>
          <a:bodyPr/>
          <a:lstStyle/>
          <a:p>
            <a:r>
              <a:rPr lang="en-US" b="1" dirty="0">
                <a:solidFill>
                  <a:schemeClr val="bg1"/>
                </a:solidFill>
              </a:rPr>
              <a:t>INTRODUCTION</a:t>
            </a:r>
          </a:p>
        </p:txBody>
      </p:sp>
      <p:sp>
        <p:nvSpPr>
          <p:cNvPr id="3" name="Content Placeholder 2">
            <a:extLst>
              <a:ext uri="{FF2B5EF4-FFF2-40B4-BE49-F238E27FC236}">
                <a16:creationId xmlns:a16="http://schemas.microsoft.com/office/drawing/2014/main" id="{334A7F96-CC46-E0C7-1EB1-1AF7DD99BA9D}"/>
              </a:ext>
            </a:extLst>
          </p:cNvPr>
          <p:cNvSpPr>
            <a:spLocks noGrp="1"/>
          </p:cNvSpPr>
          <p:nvPr>
            <p:ph idx="1"/>
          </p:nvPr>
        </p:nvSpPr>
        <p:spPr>
          <a:xfrm>
            <a:off x="1103312" y="2052918"/>
            <a:ext cx="10601008" cy="4195481"/>
          </a:xfrm>
        </p:spPr>
        <p:txBody>
          <a:bodyPr/>
          <a:lstStyle/>
          <a:p>
            <a:r>
              <a:rPr lang="en-US" sz="2400" dirty="0">
                <a:latin typeface="Tahoma" panose="020B0604030504040204" pitchFamily="34" charset="0"/>
                <a:ea typeface="Tahoma" panose="020B0604030504040204" pitchFamily="34" charset="0"/>
                <a:cs typeface="Tahoma" panose="020B0604030504040204" pitchFamily="34" charset="0"/>
              </a:rPr>
              <a:t>This report presents an analysis of customer churn behavior in Orange Telecom using interactive dashboards built in Power BI. The objective is to identify key drivers of churn, particularly focusing on:</a:t>
            </a:r>
          </a:p>
          <a:p>
            <a:r>
              <a:rPr lang="en-US" sz="2400" dirty="0">
                <a:latin typeface="Tahoma" panose="020B0604030504040204" pitchFamily="34" charset="0"/>
                <a:ea typeface="Tahoma" panose="020B0604030504040204" pitchFamily="34" charset="0"/>
                <a:cs typeface="Tahoma" panose="020B0604030504040204" pitchFamily="34" charset="0"/>
              </a:rPr>
              <a:t>Customer service interactions</a:t>
            </a:r>
          </a:p>
          <a:p>
            <a:r>
              <a:rPr lang="en-US" sz="2400" dirty="0">
                <a:latin typeface="Tahoma" panose="020B0604030504040204" pitchFamily="34" charset="0"/>
                <a:ea typeface="Tahoma" panose="020B0604030504040204" pitchFamily="34" charset="0"/>
                <a:cs typeface="Tahoma" panose="020B0604030504040204" pitchFamily="34" charset="0"/>
              </a:rPr>
              <a:t>Plan subscriptions</a:t>
            </a:r>
          </a:p>
          <a:p>
            <a:r>
              <a:rPr lang="en-US" sz="2400" dirty="0">
                <a:latin typeface="Tahoma" panose="020B0604030504040204" pitchFamily="34" charset="0"/>
                <a:ea typeface="Tahoma" panose="020B0604030504040204" pitchFamily="34" charset="0"/>
                <a:cs typeface="Tahoma" panose="020B0604030504040204" pitchFamily="34" charset="0"/>
              </a:rPr>
              <a:t>Usage patterns</a:t>
            </a:r>
          </a:p>
          <a:p>
            <a:r>
              <a:rPr lang="en-US" sz="2400" dirty="0">
                <a:latin typeface="Tahoma" panose="020B0604030504040204" pitchFamily="34" charset="0"/>
                <a:ea typeface="Tahoma" panose="020B0604030504040204" pitchFamily="34" charset="0"/>
                <a:cs typeface="Tahoma" panose="020B0604030504040204" pitchFamily="34" charset="0"/>
              </a:rPr>
              <a:t>The insights generated aim to support </a:t>
            </a:r>
            <a:r>
              <a:rPr lang="en-US" sz="2400" b="1" dirty="0">
                <a:latin typeface="Tahoma" panose="020B0604030504040204" pitchFamily="34" charset="0"/>
                <a:ea typeface="Tahoma" panose="020B0604030504040204" pitchFamily="34" charset="0"/>
                <a:cs typeface="Tahoma" panose="020B0604030504040204" pitchFamily="34" charset="0"/>
              </a:rPr>
              <a:t>data-driven decision-making for customer retention strategies</a:t>
            </a:r>
            <a:r>
              <a:rPr lang="en-US" sz="2400"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p:spTree>
    <p:extLst>
      <p:ext uri="{BB962C8B-B14F-4D97-AF65-F5344CB8AC3E}">
        <p14:creationId xmlns:p14="http://schemas.microsoft.com/office/powerpoint/2010/main" val="145643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7DE4-B6AD-5820-2CF7-19F517D211BD}"/>
              </a:ext>
            </a:extLst>
          </p:cNvPr>
          <p:cNvSpPr>
            <a:spLocks noGrp="1"/>
          </p:cNvSpPr>
          <p:nvPr>
            <p:ph type="title"/>
          </p:nvPr>
        </p:nvSpPr>
        <p:spPr/>
        <p:txBody>
          <a:bodyPr/>
          <a:lstStyle/>
          <a:p>
            <a:r>
              <a:rPr lang="en-US" b="1" dirty="0">
                <a:solidFill>
                  <a:schemeClr val="bg1"/>
                </a:solidFill>
              </a:rPr>
              <a:t>OVERVIEW OF KEY METRICS</a:t>
            </a:r>
          </a:p>
        </p:txBody>
      </p:sp>
      <p:sp>
        <p:nvSpPr>
          <p:cNvPr id="3" name="Content Placeholder 2">
            <a:extLst>
              <a:ext uri="{FF2B5EF4-FFF2-40B4-BE49-F238E27FC236}">
                <a16:creationId xmlns:a16="http://schemas.microsoft.com/office/drawing/2014/main" id="{6603E164-9496-7F5D-05D8-9BDB1AAD62DB}"/>
              </a:ext>
            </a:extLst>
          </p:cNvPr>
          <p:cNvSpPr>
            <a:spLocks noGrp="1"/>
          </p:cNvSpPr>
          <p:nvPr>
            <p:ph idx="1"/>
          </p:nvPr>
        </p:nvSpPr>
        <p:spPr>
          <a:xfrm>
            <a:off x="689988" y="2010715"/>
            <a:ext cx="10812023" cy="4195481"/>
          </a:xfrm>
        </p:spPr>
        <p:txBody>
          <a:bodyPr>
            <a:normAutofit/>
          </a:bodyPr>
          <a:lstStyle/>
          <a:p>
            <a:pPr algn="just"/>
            <a:r>
              <a:rPr lang="en-US" sz="2400" b="1" dirty="0">
                <a:latin typeface="Tahoma" panose="020B0604030504040204" pitchFamily="34" charset="0"/>
                <a:ea typeface="Tahoma" panose="020B0604030504040204" pitchFamily="34" charset="0"/>
                <a:cs typeface="Tahoma" panose="020B0604030504040204" pitchFamily="34" charset="0"/>
              </a:rPr>
              <a:t>Total Customers:</a:t>
            </a:r>
            <a:r>
              <a:rPr lang="en-US" sz="2400" dirty="0">
                <a:latin typeface="Tahoma" panose="020B0604030504040204" pitchFamily="34" charset="0"/>
                <a:ea typeface="Tahoma" panose="020B0604030504040204" pitchFamily="34" charset="0"/>
                <a:cs typeface="Tahoma" panose="020B0604030504040204" pitchFamily="34" charset="0"/>
              </a:rPr>
              <a:t> 2,666</a:t>
            </a:r>
          </a:p>
          <a:p>
            <a:pPr algn="just"/>
            <a:r>
              <a:rPr lang="en-US" sz="2400" b="1" dirty="0">
                <a:latin typeface="Tahoma" panose="020B0604030504040204" pitchFamily="34" charset="0"/>
                <a:ea typeface="Tahoma" panose="020B0604030504040204" pitchFamily="34" charset="0"/>
                <a:cs typeface="Tahoma" panose="020B0604030504040204" pitchFamily="34" charset="0"/>
              </a:rPr>
              <a:t>Total Churned Customers:</a:t>
            </a:r>
            <a:r>
              <a:rPr lang="en-US" sz="2400" dirty="0">
                <a:latin typeface="Tahoma" panose="020B0604030504040204" pitchFamily="34" charset="0"/>
                <a:ea typeface="Tahoma" panose="020B0604030504040204" pitchFamily="34" charset="0"/>
                <a:cs typeface="Tahoma" panose="020B0604030504040204" pitchFamily="34" charset="0"/>
              </a:rPr>
              <a:t> 388</a:t>
            </a:r>
          </a:p>
          <a:p>
            <a:pPr algn="just"/>
            <a:r>
              <a:rPr lang="en-US" sz="2400" b="1" dirty="0">
                <a:latin typeface="Tahoma" panose="020B0604030504040204" pitchFamily="34" charset="0"/>
                <a:ea typeface="Tahoma" panose="020B0604030504040204" pitchFamily="34" charset="0"/>
                <a:cs typeface="Tahoma" panose="020B0604030504040204" pitchFamily="34" charset="0"/>
              </a:rPr>
              <a:t>Churn Rate:</a:t>
            </a:r>
            <a:r>
              <a:rPr lang="en-US" sz="2400" dirty="0">
                <a:latin typeface="Tahoma" panose="020B0604030504040204" pitchFamily="34" charset="0"/>
                <a:ea typeface="Tahoma" panose="020B0604030504040204" pitchFamily="34" charset="0"/>
                <a:cs typeface="Tahoma" panose="020B0604030504040204" pitchFamily="34" charset="0"/>
              </a:rPr>
              <a:t> 14.55%</a:t>
            </a:r>
          </a:p>
          <a:p>
            <a:pPr algn="just"/>
            <a:r>
              <a:rPr lang="en-US" sz="2400" b="1" dirty="0">
                <a:latin typeface="Tahoma" panose="020B0604030504040204" pitchFamily="34" charset="0"/>
                <a:ea typeface="Tahoma" panose="020B0604030504040204" pitchFamily="34" charset="0"/>
                <a:cs typeface="Tahoma" panose="020B0604030504040204" pitchFamily="34" charset="0"/>
              </a:rPr>
              <a:t>Average Customer Service Calls:</a:t>
            </a:r>
            <a:r>
              <a:rPr lang="en-US" sz="2400" dirty="0">
                <a:latin typeface="Tahoma" panose="020B0604030504040204" pitchFamily="34" charset="0"/>
                <a:ea typeface="Tahoma" panose="020B0604030504040204" pitchFamily="34" charset="0"/>
                <a:cs typeface="Tahoma" panose="020B0604030504040204" pitchFamily="34" charset="0"/>
              </a:rPr>
              <a:t> 1.56</a:t>
            </a:r>
          </a:p>
          <a:p>
            <a:pPr algn="just"/>
            <a:r>
              <a:rPr lang="en-US" sz="2400" b="1" dirty="0">
                <a:latin typeface="Tahoma" panose="020B0604030504040204" pitchFamily="34" charset="0"/>
                <a:ea typeface="Tahoma" panose="020B0604030504040204" pitchFamily="34" charset="0"/>
                <a:cs typeface="Tahoma" panose="020B0604030504040204" pitchFamily="34" charset="0"/>
              </a:rPr>
              <a:t>Average Revenue Per User (ARPU):</a:t>
            </a:r>
            <a:r>
              <a:rPr lang="en-US" sz="2400" dirty="0">
                <a:latin typeface="Tahoma" panose="020B0604030504040204" pitchFamily="34" charset="0"/>
                <a:ea typeface="Tahoma" panose="020B0604030504040204" pitchFamily="34" charset="0"/>
                <a:cs typeface="Tahoma" panose="020B0604030504040204" pitchFamily="34" charset="0"/>
              </a:rPr>
              <a:t> $59.4</a:t>
            </a:r>
          </a:p>
          <a:p>
            <a:pPr algn="just"/>
            <a:r>
              <a:rPr lang="en-US" sz="2400" b="1" dirty="0">
                <a:latin typeface="Tahoma" panose="020B0604030504040204" pitchFamily="34" charset="0"/>
                <a:ea typeface="Tahoma" panose="020B0604030504040204" pitchFamily="34" charset="0"/>
                <a:cs typeface="Tahoma" panose="020B0604030504040204" pitchFamily="34" charset="0"/>
              </a:rPr>
              <a:t>Interpretation</a:t>
            </a:r>
          </a:p>
          <a:p>
            <a:pPr algn="just"/>
            <a:r>
              <a:rPr lang="en-US" sz="2400" dirty="0">
                <a:latin typeface="Tahoma" panose="020B0604030504040204" pitchFamily="34" charset="0"/>
                <a:ea typeface="Tahoma" panose="020B0604030504040204" pitchFamily="34" charset="0"/>
                <a:cs typeface="Tahoma" panose="020B0604030504040204" pitchFamily="34" charset="0"/>
              </a:rPr>
              <a:t>The churn rate of </a:t>
            </a:r>
            <a:r>
              <a:rPr lang="en-US" sz="2400" b="1" dirty="0">
                <a:latin typeface="Tahoma" panose="020B0604030504040204" pitchFamily="34" charset="0"/>
                <a:ea typeface="Tahoma" panose="020B0604030504040204" pitchFamily="34" charset="0"/>
                <a:cs typeface="Tahoma" panose="020B0604030504040204" pitchFamily="34" charset="0"/>
              </a:rPr>
              <a:t>14.55%</a:t>
            </a:r>
            <a:r>
              <a:rPr lang="en-US" sz="2400" dirty="0">
                <a:latin typeface="Tahoma" panose="020B0604030504040204" pitchFamily="34" charset="0"/>
                <a:ea typeface="Tahoma" panose="020B0604030504040204" pitchFamily="34" charset="0"/>
                <a:cs typeface="Tahoma" panose="020B0604030504040204" pitchFamily="34" charset="0"/>
              </a:rPr>
              <a:t> indicates a </a:t>
            </a:r>
            <a:r>
              <a:rPr lang="en-US" sz="2400" b="1" dirty="0">
                <a:latin typeface="Tahoma" panose="020B0604030504040204" pitchFamily="34" charset="0"/>
                <a:ea typeface="Tahoma" panose="020B0604030504040204" pitchFamily="34" charset="0"/>
                <a:cs typeface="Tahoma" panose="020B0604030504040204" pitchFamily="34" charset="0"/>
              </a:rPr>
              <a:t>moderate level of customer loss</a:t>
            </a:r>
            <a:r>
              <a:rPr lang="en-US" sz="2400" dirty="0">
                <a:latin typeface="Tahoma" panose="020B0604030504040204" pitchFamily="34" charset="0"/>
                <a:ea typeface="Tahoma" panose="020B0604030504040204" pitchFamily="34" charset="0"/>
                <a:cs typeface="Tahoma" panose="020B0604030504040204" pitchFamily="34" charset="0"/>
              </a:rPr>
              <a:t>, suggesting that while retention is stable, there are clear opportunities for improvement—especially when linked with service experience and pricing.</a:t>
            </a:r>
          </a:p>
          <a:p>
            <a:endParaRPr lang="en-US" dirty="0"/>
          </a:p>
        </p:txBody>
      </p:sp>
    </p:spTree>
    <p:extLst>
      <p:ext uri="{BB962C8B-B14F-4D97-AF65-F5344CB8AC3E}">
        <p14:creationId xmlns:p14="http://schemas.microsoft.com/office/powerpoint/2010/main" val="883931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15A1-17E2-398F-AD13-2B4A3CE7E33F}"/>
              </a:ext>
            </a:extLst>
          </p:cNvPr>
          <p:cNvSpPr>
            <a:spLocks noGrp="1"/>
          </p:cNvSpPr>
          <p:nvPr>
            <p:ph type="title"/>
          </p:nvPr>
        </p:nvSpPr>
        <p:spPr/>
        <p:txBody>
          <a:bodyPr/>
          <a:lstStyle/>
          <a:p>
            <a:r>
              <a:rPr lang="en-US" b="1" dirty="0">
                <a:solidFill>
                  <a:schemeClr val="bg1"/>
                </a:solidFill>
              </a:rPr>
              <a:t>CUSTOMER SERVICE PERFORMANCE ANALYSIS</a:t>
            </a:r>
          </a:p>
        </p:txBody>
      </p:sp>
      <p:sp>
        <p:nvSpPr>
          <p:cNvPr id="3" name="Content Placeholder 2">
            <a:extLst>
              <a:ext uri="{FF2B5EF4-FFF2-40B4-BE49-F238E27FC236}">
                <a16:creationId xmlns:a16="http://schemas.microsoft.com/office/drawing/2014/main" id="{BE399427-F7F6-1FA9-DF59-2EC2471D4CAA}"/>
              </a:ext>
            </a:extLst>
          </p:cNvPr>
          <p:cNvSpPr>
            <a:spLocks noGrp="1"/>
          </p:cNvSpPr>
          <p:nvPr>
            <p:ph sz="half" idx="1"/>
          </p:nvPr>
        </p:nvSpPr>
        <p:spPr>
          <a:xfrm>
            <a:off x="371792" y="2028654"/>
            <a:ext cx="5367826" cy="4376628"/>
          </a:xfrm>
        </p:spPr>
        <p:txBody>
          <a:bodyPr>
            <a:normAutofit fontScale="92500"/>
          </a:bodyPr>
          <a:lstStyle/>
          <a:p>
            <a:r>
              <a:rPr lang="en-US" sz="2400" b="1" dirty="0">
                <a:latin typeface="Tahoma" panose="020B0604030504040204" pitchFamily="34" charset="0"/>
                <a:ea typeface="Tahoma" panose="020B0604030504040204" pitchFamily="34" charset="0"/>
                <a:cs typeface="Tahoma" panose="020B0604030504040204" pitchFamily="34" charset="0"/>
              </a:rPr>
              <a:t>Churn vs Average Service Calls</a:t>
            </a:r>
          </a:p>
          <a:p>
            <a:r>
              <a:rPr lang="en-US" sz="2000" dirty="0">
                <a:latin typeface="Tahoma" panose="020B0604030504040204" pitchFamily="34" charset="0"/>
                <a:ea typeface="Tahoma" panose="020B0604030504040204" pitchFamily="34" charset="0"/>
                <a:cs typeface="Tahoma" panose="020B0604030504040204" pitchFamily="34" charset="0"/>
              </a:rPr>
              <a:t>Churned customers: </a:t>
            </a:r>
            <a:r>
              <a:rPr lang="en-US" sz="2000" b="1" dirty="0">
                <a:latin typeface="Tahoma" panose="020B0604030504040204" pitchFamily="34" charset="0"/>
                <a:ea typeface="Tahoma" panose="020B0604030504040204" pitchFamily="34" charset="0"/>
                <a:cs typeface="Tahoma" panose="020B0604030504040204" pitchFamily="34" charset="0"/>
              </a:rPr>
              <a:t>2.21 calls (average)</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dirty="0">
                <a:latin typeface="Tahoma" panose="020B0604030504040204" pitchFamily="34" charset="0"/>
                <a:ea typeface="Tahoma" panose="020B0604030504040204" pitchFamily="34" charset="0"/>
                <a:cs typeface="Tahoma" panose="020B0604030504040204" pitchFamily="34" charset="0"/>
              </a:rPr>
              <a:t>Retained customers: </a:t>
            </a:r>
            <a:r>
              <a:rPr lang="en-US" sz="2000" b="1" dirty="0">
                <a:latin typeface="Tahoma" panose="020B0604030504040204" pitchFamily="34" charset="0"/>
                <a:ea typeface="Tahoma" panose="020B0604030504040204" pitchFamily="34" charset="0"/>
                <a:cs typeface="Tahoma" panose="020B0604030504040204" pitchFamily="34" charset="0"/>
              </a:rPr>
              <a:t>1.45 calls (average)</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Customers who churn interact more frequently with customer service. This strongly suggests that:</a:t>
            </a:r>
          </a:p>
          <a:p>
            <a:r>
              <a:rPr lang="en-US" sz="2000" b="1" dirty="0">
                <a:latin typeface="Tahoma" panose="020B0604030504040204" pitchFamily="34" charset="0"/>
                <a:ea typeface="Tahoma" panose="020B0604030504040204" pitchFamily="34" charset="0"/>
                <a:cs typeface="Tahoma" panose="020B0604030504040204" pitchFamily="34" charset="0"/>
              </a:rPr>
              <a:t>Poor issue resolution or repeated complaints contribute significantly to churn.</a:t>
            </a:r>
            <a:endParaRPr lang="en-US" sz="2000" dirty="0">
              <a:latin typeface="Tahoma" panose="020B0604030504040204" pitchFamily="34" charset="0"/>
              <a:ea typeface="Tahoma" panose="020B0604030504040204" pitchFamily="34" charset="0"/>
              <a:cs typeface="Tahoma" panose="020B0604030504040204" pitchFamily="34" charset="0"/>
            </a:endParaRPr>
          </a:p>
          <a:p>
            <a:endParaRPr lang="en-US" dirty="0"/>
          </a:p>
        </p:txBody>
      </p:sp>
      <p:sp>
        <p:nvSpPr>
          <p:cNvPr id="4" name="Content Placeholder 3">
            <a:extLst>
              <a:ext uri="{FF2B5EF4-FFF2-40B4-BE49-F238E27FC236}">
                <a16:creationId xmlns:a16="http://schemas.microsoft.com/office/drawing/2014/main" id="{884ED501-6446-7A41-AF50-1CEDAE4C3DA3}"/>
              </a:ext>
            </a:extLst>
          </p:cNvPr>
          <p:cNvSpPr>
            <a:spLocks noGrp="1"/>
          </p:cNvSpPr>
          <p:nvPr>
            <p:ph sz="half" idx="2"/>
          </p:nvPr>
        </p:nvSpPr>
        <p:spPr>
          <a:xfrm>
            <a:off x="6096001" y="2024172"/>
            <a:ext cx="5903742" cy="4573576"/>
          </a:xfrm>
        </p:spPr>
        <p:txBody>
          <a:bodyPr>
            <a:normAutofit fontScale="92500"/>
          </a:bodyPr>
          <a:lstStyle/>
          <a:p>
            <a:r>
              <a:rPr lang="en-US" sz="2200" b="1" dirty="0">
                <a:latin typeface="Tahoma" panose="020B0604030504040204" pitchFamily="34" charset="0"/>
                <a:ea typeface="Tahoma" panose="020B0604030504040204" pitchFamily="34" charset="0"/>
                <a:cs typeface="Tahoma" panose="020B0604030504040204" pitchFamily="34" charset="0"/>
              </a:rPr>
              <a:t>Critical Call Threshold</a:t>
            </a:r>
          </a:p>
          <a:p>
            <a:r>
              <a:rPr lang="en-US" sz="2000" dirty="0">
                <a:latin typeface="Tahoma" panose="020B0604030504040204" pitchFamily="34" charset="0"/>
                <a:ea typeface="Tahoma" panose="020B0604030504040204" pitchFamily="34" charset="0"/>
                <a:cs typeface="Tahoma" panose="020B0604030504040204" pitchFamily="34" charset="0"/>
              </a:rPr>
              <a:t>Low calls → Low churn</a:t>
            </a:r>
          </a:p>
          <a:p>
            <a:r>
              <a:rPr lang="en-US" sz="2000" dirty="0">
                <a:latin typeface="Tahoma" panose="020B0604030504040204" pitchFamily="34" charset="0"/>
                <a:ea typeface="Tahoma" panose="020B0604030504040204" pitchFamily="34" charset="0"/>
                <a:cs typeface="Tahoma" panose="020B0604030504040204" pitchFamily="34" charset="0"/>
              </a:rPr>
              <a:t>Mid calls → Moderate churn</a:t>
            </a:r>
          </a:p>
          <a:p>
            <a:r>
              <a:rPr lang="en-US" sz="2000" dirty="0">
                <a:latin typeface="Tahoma" panose="020B0604030504040204" pitchFamily="34" charset="0"/>
                <a:ea typeface="Tahoma" panose="020B0604030504040204" pitchFamily="34" charset="0"/>
                <a:cs typeface="Tahoma" panose="020B0604030504040204" pitchFamily="34" charset="0"/>
              </a:rPr>
              <a:t>High calls → Highest churn</a:t>
            </a: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A clear </a:t>
            </a:r>
            <a:r>
              <a:rPr lang="en-US" sz="2000" b="1" dirty="0">
                <a:latin typeface="Tahoma" panose="020B0604030504040204" pitchFamily="34" charset="0"/>
                <a:ea typeface="Tahoma" panose="020B0604030504040204" pitchFamily="34" charset="0"/>
                <a:cs typeface="Tahoma" panose="020B0604030504040204" pitchFamily="34" charset="0"/>
              </a:rPr>
              <a:t>tipping point exists</a:t>
            </a:r>
            <a:r>
              <a:rPr lang="en-US" sz="2000" dirty="0">
                <a:latin typeface="Tahoma" panose="020B0604030504040204" pitchFamily="34" charset="0"/>
                <a:ea typeface="Tahoma" panose="020B0604030504040204" pitchFamily="34" charset="0"/>
                <a:cs typeface="Tahoma" panose="020B0604030504040204" pitchFamily="34" charset="0"/>
              </a:rPr>
              <a:t>:</a:t>
            </a:r>
          </a:p>
          <a:p>
            <a:r>
              <a:rPr lang="en-US" sz="2000" dirty="0">
                <a:latin typeface="Tahoma" panose="020B0604030504040204" pitchFamily="34" charset="0"/>
                <a:ea typeface="Tahoma" panose="020B0604030504040204" pitchFamily="34" charset="0"/>
                <a:cs typeface="Tahoma" panose="020B0604030504040204" pitchFamily="34" charset="0"/>
              </a:rPr>
              <a:t>Customers with </a:t>
            </a:r>
            <a:r>
              <a:rPr lang="en-US" sz="2000" b="1" dirty="0">
                <a:latin typeface="Tahoma" panose="020B0604030504040204" pitchFamily="34" charset="0"/>
                <a:ea typeface="Tahoma" panose="020B0604030504040204" pitchFamily="34" charset="0"/>
                <a:cs typeface="Tahoma" panose="020B0604030504040204" pitchFamily="34" charset="0"/>
              </a:rPr>
              <a:t>high call frequency are at significantly higher risk of churn</a:t>
            </a:r>
            <a:r>
              <a:rPr lang="en-US" sz="2000" dirty="0">
                <a:latin typeface="Tahoma" panose="020B0604030504040204" pitchFamily="34" charset="0"/>
                <a:ea typeface="Tahoma" panose="020B0604030504040204" pitchFamily="34" charset="0"/>
                <a:cs typeface="Tahoma" panose="020B0604030504040204" pitchFamily="34" charset="0"/>
              </a:rPr>
              <a:t>.</a:t>
            </a:r>
          </a:p>
          <a:p>
            <a:r>
              <a:rPr lang="en-US" sz="2000" dirty="0">
                <a:latin typeface="Tahoma" panose="020B0604030504040204" pitchFamily="34" charset="0"/>
                <a:ea typeface="Tahoma" panose="020B0604030504040204" pitchFamily="34" charset="0"/>
                <a:cs typeface="Tahoma" panose="020B0604030504040204" pitchFamily="34" charset="0"/>
              </a:rPr>
              <a:t>This validates the idea that:</a:t>
            </a:r>
          </a:p>
          <a:p>
            <a:r>
              <a:rPr lang="en-US" sz="2000" dirty="0">
                <a:latin typeface="Tahoma" panose="020B0604030504040204" pitchFamily="34" charset="0"/>
                <a:ea typeface="Tahoma" panose="020B0604030504040204" pitchFamily="34" charset="0"/>
                <a:cs typeface="Tahoma" panose="020B0604030504040204" pitchFamily="34" charset="0"/>
              </a:rPr>
              <a:t>Multiple service interactions = unresolved issues</a:t>
            </a:r>
          </a:p>
          <a:p>
            <a:r>
              <a:rPr lang="en-US" sz="2000" dirty="0">
                <a:latin typeface="Tahoma" panose="020B0604030504040204" pitchFamily="34" charset="0"/>
                <a:ea typeface="Tahoma" panose="020B0604030504040204" pitchFamily="34" charset="0"/>
                <a:cs typeface="Tahoma" panose="020B0604030504040204" pitchFamily="34" charset="0"/>
              </a:rPr>
              <a:t>Customer frustration increases with repeated calls</a:t>
            </a:r>
          </a:p>
          <a:p>
            <a:endParaRPr lang="en-US" dirty="0"/>
          </a:p>
        </p:txBody>
      </p:sp>
    </p:spTree>
    <p:extLst>
      <p:ext uri="{BB962C8B-B14F-4D97-AF65-F5344CB8AC3E}">
        <p14:creationId xmlns:p14="http://schemas.microsoft.com/office/powerpoint/2010/main" val="1388946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DC0-52EA-D0AB-E3CD-1220768FB1D4}"/>
              </a:ext>
            </a:extLst>
          </p:cNvPr>
          <p:cNvSpPr>
            <a:spLocks noGrp="1"/>
          </p:cNvSpPr>
          <p:nvPr>
            <p:ph type="title"/>
          </p:nvPr>
        </p:nvSpPr>
        <p:spPr/>
        <p:txBody>
          <a:bodyPr/>
          <a:lstStyle/>
          <a:p>
            <a:r>
              <a:rPr lang="en-US" b="1" dirty="0">
                <a:solidFill>
                  <a:schemeClr val="bg1"/>
                </a:solidFill>
              </a:rPr>
              <a:t>CUSTOMER SERVICE PERFORMANCE ANALYSIS</a:t>
            </a:r>
            <a:endParaRPr lang="en-US" dirty="0"/>
          </a:p>
        </p:txBody>
      </p:sp>
      <p:sp>
        <p:nvSpPr>
          <p:cNvPr id="3" name="Content Placeholder 2">
            <a:extLst>
              <a:ext uri="{FF2B5EF4-FFF2-40B4-BE49-F238E27FC236}">
                <a16:creationId xmlns:a16="http://schemas.microsoft.com/office/drawing/2014/main" id="{374E27CF-B862-0475-E05B-173DBF53A492}"/>
              </a:ext>
            </a:extLst>
          </p:cNvPr>
          <p:cNvSpPr>
            <a:spLocks noGrp="1"/>
          </p:cNvSpPr>
          <p:nvPr>
            <p:ph sz="half" idx="1"/>
          </p:nvPr>
        </p:nvSpPr>
        <p:spPr>
          <a:xfrm>
            <a:off x="337626" y="2060575"/>
            <a:ext cx="5627076" cy="4195763"/>
          </a:xfrm>
        </p:spPr>
        <p:txBody>
          <a:bodyPr>
            <a:normAutofit lnSpcReduction="10000"/>
          </a:bodyPr>
          <a:lstStyle/>
          <a:p>
            <a:r>
              <a:rPr lang="en-US" sz="2400" b="1" dirty="0">
                <a:latin typeface="Tahoma" panose="020B0604030504040204" pitchFamily="34" charset="0"/>
                <a:ea typeface="Tahoma" panose="020B0604030504040204" pitchFamily="34" charset="0"/>
                <a:cs typeface="Tahoma" panose="020B0604030504040204" pitchFamily="34" charset="0"/>
              </a:rPr>
              <a:t>Customer Service Calls vs Churn Distribution</a:t>
            </a:r>
          </a:p>
          <a:p>
            <a:r>
              <a:rPr lang="en-US" dirty="0"/>
              <a:t>The distribution chart shows that:</a:t>
            </a:r>
          </a:p>
          <a:p>
            <a:r>
              <a:rPr lang="en-US" dirty="0"/>
              <a:t>Majority of churn occurs among customers with </a:t>
            </a:r>
            <a:r>
              <a:rPr lang="en-US" b="1" dirty="0"/>
              <a:t>increasing service call frequency</a:t>
            </a:r>
            <a:endParaRPr lang="en-US" dirty="0"/>
          </a:p>
          <a:p>
            <a:r>
              <a:rPr lang="en-US" dirty="0"/>
              <a:t>Customers with fewer interactions are more likely to stay</a:t>
            </a:r>
          </a:p>
          <a:p>
            <a:r>
              <a:rPr lang="en-US" b="1" dirty="0"/>
              <a:t>Insight</a:t>
            </a:r>
          </a:p>
          <a:p>
            <a:r>
              <a:rPr lang="en-US" dirty="0"/>
              <a:t>Customer service is not just a support function — it is a </a:t>
            </a:r>
            <a:r>
              <a:rPr lang="en-US" b="1" dirty="0"/>
              <a:t>key churn driver</a:t>
            </a:r>
            <a:r>
              <a:rPr lang="en-US" dirty="0"/>
              <a:t>.</a:t>
            </a:r>
          </a:p>
          <a:p>
            <a:pPr marL="0" indent="0">
              <a:buNone/>
            </a:pPr>
            <a:endParaRPr lang="en-US" dirty="0"/>
          </a:p>
        </p:txBody>
      </p:sp>
      <p:sp>
        <p:nvSpPr>
          <p:cNvPr id="4" name="Content Placeholder 3">
            <a:extLst>
              <a:ext uri="{FF2B5EF4-FFF2-40B4-BE49-F238E27FC236}">
                <a16:creationId xmlns:a16="http://schemas.microsoft.com/office/drawing/2014/main" id="{9B4DE815-7107-CB3C-C876-829DEFE4EC4C}"/>
              </a:ext>
            </a:extLst>
          </p:cNvPr>
          <p:cNvSpPr>
            <a:spLocks noGrp="1"/>
          </p:cNvSpPr>
          <p:nvPr>
            <p:ph sz="half" idx="2"/>
          </p:nvPr>
        </p:nvSpPr>
        <p:spPr>
          <a:xfrm>
            <a:off x="6227301" y="1853248"/>
            <a:ext cx="5744306" cy="4552034"/>
          </a:xfrm>
        </p:spPr>
        <p:txBody>
          <a:bodyPr>
            <a:normAutofit lnSpcReduction="10000"/>
          </a:bodyPr>
          <a:lstStyle/>
          <a:p>
            <a:r>
              <a:rPr lang="en-US" sz="2400" b="1" dirty="0">
                <a:latin typeface="Tahoma" panose="020B0604030504040204" pitchFamily="34" charset="0"/>
                <a:ea typeface="Tahoma" panose="020B0604030504040204" pitchFamily="34" charset="0"/>
                <a:cs typeface="Tahoma" panose="020B0604030504040204" pitchFamily="34" charset="0"/>
              </a:rPr>
              <a:t>Geographic Service Problem Areas</a:t>
            </a:r>
          </a:p>
          <a:p>
            <a:r>
              <a:rPr lang="en-US" dirty="0"/>
              <a:t>From the state-level table:</a:t>
            </a:r>
          </a:p>
          <a:p>
            <a:r>
              <a:rPr lang="en-US" dirty="0"/>
              <a:t>Some states show </a:t>
            </a:r>
            <a:r>
              <a:rPr lang="en-US" b="1" dirty="0"/>
              <a:t>higher churn rates and service call averages</a:t>
            </a:r>
            <a:endParaRPr lang="en-US" dirty="0"/>
          </a:p>
          <a:p>
            <a:r>
              <a:rPr lang="en-US" dirty="0"/>
              <a:t>Indicates </a:t>
            </a:r>
            <a:r>
              <a:rPr lang="en-US" b="1" dirty="0"/>
              <a:t>regional service quality issues</a:t>
            </a:r>
            <a:endParaRPr lang="en-US" dirty="0"/>
          </a:p>
          <a:p>
            <a:r>
              <a:rPr lang="en-US" b="1" dirty="0"/>
              <a:t>Insight</a:t>
            </a:r>
          </a:p>
          <a:p>
            <a:r>
              <a:rPr lang="en-US" dirty="0"/>
              <a:t>Churn is partly influenced by </a:t>
            </a:r>
            <a:r>
              <a:rPr lang="en-US" b="1" dirty="0"/>
              <a:t>location-based service performance</a:t>
            </a:r>
            <a:r>
              <a:rPr lang="en-US" dirty="0"/>
              <a:t>, possibly due to:</a:t>
            </a:r>
          </a:p>
          <a:p>
            <a:r>
              <a:rPr lang="en-US" dirty="0"/>
              <a:t>Network quality</a:t>
            </a:r>
          </a:p>
          <a:p>
            <a:r>
              <a:rPr lang="en-US" dirty="0"/>
              <a:t>Infrastructure issues</a:t>
            </a:r>
          </a:p>
          <a:p>
            <a:r>
              <a:rPr lang="en-US" dirty="0"/>
              <a:t>Regional competition</a:t>
            </a:r>
          </a:p>
          <a:p>
            <a:endParaRPr lang="en-US" dirty="0"/>
          </a:p>
        </p:txBody>
      </p:sp>
    </p:spTree>
    <p:extLst>
      <p:ext uri="{BB962C8B-B14F-4D97-AF65-F5344CB8AC3E}">
        <p14:creationId xmlns:p14="http://schemas.microsoft.com/office/powerpoint/2010/main" val="200913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C15DC-53C7-7676-0CF0-9E660B071440}"/>
              </a:ext>
            </a:extLst>
          </p:cNvPr>
          <p:cNvSpPr>
            <a:spLocks noGrp="1"/>
          </p:cNvSpPr>
          <p:nvPr>
            <p:ph type="title"/>
          </p:nvPr>
        </p:nvSpPr>
        <p:spPr/>
        <p:txBody>
          <a:bodyPr/>
          <a:lstStyle/>
          <a:p>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PLAN &amp; USAGE DRIVERS ANALYSIS</a:t>
            </a:r>
          </a:p>
        </p:txBody>
      </p:sp>
      <p:sp>
        <p:nvSpPr>
          <p:cNvPr id="3" name="Content Placeholder 2">
            <a:extLst>
              <a:ext uri="{FF2B5EF4-FFF2-40B4-BE49-F238E27FC236}">
                <a16:creationId xmlns:a16="http://schemas.microsoft.com/office/drawing/2014/main" id="{DE4D5A23-6D7B-AF37-FFAA-CB915DCA5A3D}"/>
              </a:ext>
            </a:extLst>
          </p:cNvPr>
          <p:cNvSpPr>
            <a:spLocks noGrp="1"/>
          </p:cNvSpPr>
          <p:nvPr>
            <p:ph sz="half" idx="1"/>
          </p:nvPr>
        </p:nvSpPr>
        <p:spPr>
          <a:xfrm>
            <a:off x="413996" y="2060575"/>
            <a:ext cx="5434196" cy="4344707"/>
          </a:xfrm>
        </p:spPr>
        <p:txBody>
          <a:bodyPr/>
          <a:lstStyle/>
          <a:p>
            <a:r>
              <a:rPr lang="en-US" sz="2400" b="1" dirty="0">
                <a:solidFill>
                  <a:schemeClr val="bg1"/>
                </a:solidFill>
                <a:latin typeface="Tahoma" panose="020B0604030504040204" pitchFamily="34" charset="0"/>
                <a:ea typeface="Tahoma" panose="020B0604030504040204" pitchFamily="34" charset="0"/>
                <a:cs typeface="Tahoma" panose="020B0604030504040204" pitchFamily="34" charset="0"/>
              </a:rPr>
              <a:t>Churn by International Plan</a:t>
            </a:r>
          </a:p>
          <a:p>
            <a:r>
              <a:rPr lang="en-US" sz="2000" dirty="0">
                <a:latin typeface="Tahoma" panose="020B0604030504040204" pitchFamily="34" charset="0"/>
                <a:ea typeface="Tahoma" panose="020B0604030504040204" pitchFamily="34" charset="0"/>
                <a:cs typeface="Tahoma" panose="020B0604030504040204" pitchFamily="34" charset="0"/>
              </a:rPr>
              <a:t>Customers with international plan show </a:t>
            </a:r>
            <a:r>
              <a:rPr lang="en-US" sz="2000" b="1" dirty="0">
                <a:latin typeface="Tahoma" panose="020B0604030504040204" pitchFamily="34" charset="0"/>
                <a:ea typeface="Tahoma" panose="020B0604030504040204" pitchFamily="34" charset="0"/>
                <a:cs typeface="Tahoma" panose="020B0604030504040204" pitchFamily="34" charset="0"/>
              </a:rPr>
              <a:t>higher churn proportion</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This suggests:</a:t>
            </a:r>
          </a:p>
          <a:p>
            <a:r>
              <a:rPr lang="en-US" sz="2000" dirty="0">
                <a:latin typeface="Tahoma" panose="020B0604030504040204" pitchFamily="34" charset="0"/>
                <a:ea typeface="Tahoma" panose="020B0604030504040204" pitchFamily="34" charset="0"/>
                <a:cs typeface="Tahoma" panose="020B0604030504040204" pitchFamily="34" charset="0"/>
              </a:rPr>
              <a:t>The international plan may be </a:t>
            </a:r>
            <a:r>
              <a:rPr lang="en-US" sz="2000" b="1" dirty="0">
                <a:latin typeface="Tahoma" panose="020B0604030504040204" pitchFamily="34" charset="0"/>
                <a:ea typeface="Tahoma" panose="020B0604030504040204" pitchFamily="34" charset="0"/>
                <a:cs typeface="Tahoma" panose="020B0604030504040204" pitchFamily="34" charset="0"/>
              </a:rPr>
              <a:t>too expensive or not delivering expected value</a:t>
            </a:r>
            <a:r>
              <a:rPr lang="en-US" sz="2000"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p:sp>
        <p:nvSpPr>
          <p:cNvPr id="4" name="Content Placeholder 3">
            <a:extLst>
              <a:ext uri="{FF2B5EF4-FFF2-40B4-BE49-F238E27FC236}">
                <a16:creationId xmlns:a16="http://schemas.microsoft.com/office/drawing/2014/main" id="{68599EA7-D586-D3E8-B063-0628B2445737}"/>
              </a:ext>
            </a:extLst>
          </p:cNvPr>
          <p:cNvSpPr>
            <a:spLocks noGrp="1"/>
          </p:cNvSpPr>
          <p:nvPr>
            <p:ph sz="half" idx="2"/>
          </p:nvPr>
        </p:nvSpPr>
        <p:spPr>
          <a:xfrm>
            <a:off x="6343810" y="2024173"/>
            <a:ext cx="5434195" cy="4344707"/>
          </a:xfrm>
        </p:spPr>
        <p:txBody>
          <a:bodyPr/>
          <a:lstStyle/>
          <a:p>
            <a:r>
              <a:rPr lang="en-US" sz="2400" b="1" dirty="0">
                <a:solidFill>
                  <a:schemeClr val="bg1"/>
                </a:solidFill>
                <a:latin typeface="Tahoma" panose="020B0604030504040204" pitchFamily="34" charset="0"/>
                <a:ea typeface="Tahoma" panose="020B0604030504040204" pitchFamily="34" charset="0"/>
                <a:cs typeface="Tahoma" panose="020B0604030504040204" pitchFamily="34" charset="0"/>
              </a:rPr>
              <a:t>Voice Mail Plan vs Churn</a:t>
            </a:r>
          </a:p>
          <a:p>
            <a:r>
              <a:rPr lang="en-US" sz="2000" dirty="0">
                <a:latin typeface="Tahoma" panose="020B0604030504040204" pitchFamily="34" charset="0"/>
                <a:ea typeface="Tahoma" panose="020B0604030504040204" pitchFamily="34" charset="0"/>
                <a:cs typeface="Tahoma" panose="020B0604030504040204" pitchFamily="34" charset="0"/>
              </a:rPr>
              <a:t>Customers with voice mail plan:</a:t>
            </a:r>
          </a:p>
          <a:p>
            <a:pPr lvl="1"/>
            <a:r>
              <a:rPr lang="en-US" sz="2000" b="1" dirty="0">
                <a:latin typeface="Tahoma" panose="020B0604030504040204" pitchFamily="34" charset="0"/>
                <a:ea typeface="Tahoma" panose="020B0604030504040204" pitchFamily="34" charset="0"/>
                <a:cs typeface="Tahoma" panose="020B0604030504040204" pitchFamily="34" charset="0"/>
              </a:rPr>
              <a:t>Lower churn rate</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dirty="0">
                <a:latin typeface="Tahoma" panose="020B0604030504040204" pitchFamily="34" charset="0"/>
                <a:ea typeface="Tahoma" panose="020B0604030504040204" pitchFamily="34" charset="0"/>
                <a:cs typeface="Tahoma" panose="020B0604030504040204" pitchFamily="34" charset="0"/>
              </a:rPr>
              <a:t>Customers without voice mail:</a:t>
            </a:r>
          </a:p>
          <a:p>
            <a:pPr lvl="1"/>
            <a:r>
              <a:rPr lang="en-US" sz="2000" b="1" dirty="0">
                <a:latin typeface="Tahoma" panose="020B0604030504040204" pitchFamily="34" charset="0"/>
                <a:ea typeface="Tahoma" panose="020B0604030504040204" pitchFamily="34" charset="0"/>
                <a:cs typeface="Tahoma" panose="020B0604030504040204" pitchFamily="34" charset="0"/>
              </a:rPr>
              <a:t>Higher churn rate</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Voice mail acts as a </a:t>
            </a:r>
            <a:r>
              <a:rPr lang="en-US" sz="2000" b="1" dirty="0">
                <a:latin typeface="Tahoma" panose="020B0604030504040204" pitchFamily="34" charset="0"/>
                <a:ea typeface="Tahoma" panose="020B0604030504040204" pitchFamily="34" charset="0"/>
                <a:cs typeface="Tahoma" panose="020B0604030504040204" pitchFamily="34" charset="0"/>
              </a:rPr>
              <a:t>retention factor</a:t>
            </a:r>
            <a:r>
              <a:rPr lang="en-US" sz="2000" dirty="0">
                <a:latin typeface="Tahoma" panose="020B0604030504040204" pitchFamily="34" charset="0"/>
                <a:ea typeface="Tahoma" panose="020B0604030504040204" pitchFamily="34" charset="0"/>
                <a:cs typeface="Tahoma" panose="020B0604030504040204" pitchFamily="34" charset="0"/>
              </a:rPr>
              <a:t>, possibly increasing customer satisfaction and engagement.</a:t>
            </a:r>
          </a:p>
          <a:p>
            <a:endParaRPr lang="en-US" dirty="0"/>
          </a:p>
        </p:txBody>
      </p:sp>
    </p:spTree>
    <p:extLst>
      <p:ext uri="{BB962C8B-B14F-4D97-AF65-F5344CB8AC3E}">
        <p14:creationId xmlns:p14="http://schemas.microsoft.com/office/powerpoint/2010/main" val="269405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64403-DC73-D80E-AF91-9B1CEF36A126}"/>
              </a:ext>
            </a:extLst>
          </p:cNvPr>
          <p:cNvSpPr>
            <a:spLocks noGrp="1"/>
          </p:cNvSpPr>
          <p:nvPr>
            <p:ph type="title"/>
          </p:nvPr>
        </p:nvSpPr>
        <p:spPr/>
        <p:txBody>
          <a:bodyPr/>
          <a:lstStyle/>
          <a:p>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PLAN &amp; USAGE DRIVERS ANALYSIS</a:t>
            </a:r>
            <a:endParaRPr lang="en-US" dirty="0"/>
          </a:p>
        </p:txBody>
      </p:sp>
      <p:sp>
        <p:nvSpPr>
          <p:cNvPr id="3" name="Content Placeholder 2">
            <a:extLst>
              <a:ext uri="{FF2B5EF4-FFF2-40B4-BE49-F238E27FC236}">
                <a16:creationId xmlns:a16="http://schemas.microsoft.com/office/drawing/2014/main" id="{303BDA1B-F82A-AA0E-1C0D-8B4122DC688D}"/>
              </a:ext>
            </a:extLst>
          </p:cNvPr>
          <p:cNvSpPr>
            <a:spLocks noGrp="1"/>
          </p:cNvSpPr>
          <p:nvPr>
            <p:ph sz="half" idx="1"/>
          </p:nvPr>
        </p:nvSpPr>
        <p:spPr>
          <a:xfrm>
            <a:off x="309490" y="2060575"/>
            <a:ext cx="5190162" cy="4195763"/>
          </a:xfrm>
        </p:spPr>
        <p:txBody>
          <a:bodyPr/>
          <a:lstStyle/>
          <a:p>
            <a:r>
              <a:rPr lang="en-US" sz="2800" b="1" dirty="0">
                <a:latin typeface="Tahoma" panose="020B0604030504040204" pitchFamily="34" charset="0"/>
                <a:ea typeface="Tahoma" panose="020B0604030504040204" pitchFamily="34" charset="0"/>
                <a:cs typeface="Tahoma" panose="020B0604030504040204" pitchFamily="34" charset="0"/>
              </a:rPr>
              <a:t>Tenure vs Churn</a:t>
            </a:r>
          </a:p>
          <a:p>
            <a:r>
              <a:rPr lang="en-US" sz="2000" dirty="0">
                <a:latin typeface="Tahoma" panose="020B0604030504040204" pitchFamily="34" charset="0"/>
                <a:ea typeface="Tahoma" panose="020B0604030504040204" pitchFamily="34" charset="0"/>
                <a:cs typeface="Tahoma" panose="020B0604030504040204" pitchFamily="34" charset="0"/>
              </a:rPr>
              <a:t>Churn increases significantly at higher tenure levels</a:t>
            </a:r>
          </a:p>
          <a:p>
            <a:r>
              <a:rPr lang="en-US" sz="2000" dirty="0">
                <a:latin typeface="Tahoma" panose="020B0604030504040204" pitchFamily="34" charset="0"/>
                <a:ea typeface="Tahoma" panose="020B0604030504040204" pitchFamily="34" charset="0"/>
                <a:cs typeface="Tahoma" panose="020B0604030504040204" pitchFamily="34" charset="0"/>
              </a:rPr>
              <a:t>Peaks at around </a:t>
            </a:r>
            <a:r>
              <a:rPr lang="en-US" sz="2000" b="1" dirty="0">
                <a:latin typeface="Tahoma" panose="020B0604030504040204" pitchFamily="34" charset="0"/>
                <a:ea typeface="Tahoma" panose="020B0604030504040204" pitchFamily="34" charset="0"/>
                <a:cs typeface="Tahoma" panose="020B0604030504040204" pitchFamily="34" charset="0"/>
              </a:rPr>
              <a:t>33%</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Contrary to expectation:</a:t>
            </a:r>
          </a:p>
          <a:p>
            <a:r>
              <a:rPr lang="en-US" sz="2000" dirty="0">
                <a:latin typeface="Tahoma" panose="020B0604030504040204" pitchFamily="34" charset="0"/>
                <a:ea typeface="Tahoma" panose="020B0604030504040204" pitchFamily="34" charset="0"/>
                <a:cs typeface="Tahoma" panose="020B0604030504040204" pitchFamily="34" charset="0"/>
              </a:rPr>
              <a:t>Even long-term customers are leaving, indicating </a:t>
            </a:r>
            <a:r>
              <a:rPr lang="en-US" sz="2000" b="1" dirty="0">
                <a:latin typeface="Tahoma" panose="020B0604030504040204" pitchFamily="34" charset="0"/>
                <a:ea typeface="Tahoma" panose="020B0604030504040204" pitchFamily="34" charset="0"/>
                <a:cs typeface="Tahoma" panose="020B0604030504040204" pitchFamily="34" charset="0"/>
              </a:rPr>
              <a:t>long-term dissatisfaction or better competitor offers</a:t>
            </a:r>
            <a:r>
              <a:rPr lang="en-US" sz="2000"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p:sp>
        <p:nvSpPr>
          <p:cNvPr id="4" name="Content Placeholder 3">
            <a:extLst>
              <a:ext uri="{FF2B5EF4-FFF2-40B4-BE49-F238E27FC236}">
                <a16:creationId xmlns:a16="http://schemas.microsoft.com/office/drawing/2014/main" id="{BF9C5310-47D9-7F37-F9DC-981E3A350406}"/>
              </a:ext>
            </a:extLst>
          </p:cNvPr>
          <p:cNvSpPr>
            <a:spLocks noGrp="1"/>
          </p:cNvSpPr>
          <p:nvPr>
            <p:ph sz="half" idx="2"/>
          </p:nvPr>
        </p:nvSpPr>
        <p:spPr>
          <a:xfrm>
            <a:off x="5654493" y="2056092"/>
            <a:ext cx="6092030" cy="4195763"/>
          </a:xfrm>
        </p:spPr>
        <p:txBody>
          <a:bodyPr/>
          <a:lstStyle/>
          <a:p>
            <a:r>
              <a:rPr lang="en-US" sz="2800" b="1" dirty="0">
                <a:latin typeface="Tahoma" panose="020B0604030504040204" pitchFamily="34" charset="0"/>
                <a:ea typeface="Tahoma" panose="020B0604030504040204" pitchFamily="34" charset="0"/>
                <a:cs typeface="Tahoma" panose="020B0604030504040204" pitchFamily="34" charset="0"/>
              </a:rPr>
              <a:t>Revenue vs Churn</a:t>
            </a:r>
          </a:p>
          <a:p>
            <a:r>
              <a:rPr lang="en-US" sz="2000" dirty="0">
                <a:latin typeface="Tahoma" panose="020B0604030504040204" pitchFamily="34" charset="0"/>
                <a:ea typeface="Tahoma" panose="020B0604030504040204" pitchFamily="34" charset="0"/>
                <a:cs typeface="Tahoma" panose="020B0604030504040204" pitchFamily="34" charset="0"/>
              </a:rPr>
              <a:t>Churned customers generate </a:t>
            </a:r>
            <a:r>
              <a:rPr lang="en-US" sz="2000" b="1" dirty="0">
                <a:latin typeface="Tahoma" panose="020B0604030504040204" pitchFamily="34" charset="0"/>
                <a:ea typeface="Tahoma" panose="020B0604030504040204" pitchFamily="34" charset="0"/>
                <a:cs typeface="Tahoma" panose="020B0604030504040204" pitchFamily="34" charset="0"/>
              </a:rPr>
              <a:t>higher average revenue (~65)</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dirty="0">
                <a:latin typeface="Tahoma" panose="020B0604030504040204" pitchFamily="34" charset="0"/>
                <a:ea typeface="Tahoma" panose="020B0604030504040204" pitchFamily="34" charset="0"/>
                <a:cs typeface="Tahoma" panose="020B0604030504040204" pitchFamily="34" charset="0"/>
              </a:rPr>
              <a:t>Retained customers generate </a:t>
            </a:r>
            <a:r>
              <a:rPr lang="en-US" sz="2000" b="1" dirty="0">
                <a:latin typeface="Tahoma" panose="020B0604030504040204" pitchFamily="34" charset="0"/>
                <a:ea typeface="Tahoma" panose="020B0604030504040204" pitchFamily="34" charset="0"/>
                <a:cs typeface="Tahoma" panose="020B0604030504040204" pitchFamily="34" charset="0"/>
              </a:rPr>
              <a:t>less (~58)</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b="1" dirty="0">
                <a:latin typeface="Tahoma" panose="020B0604030504040204" pitchFamily="34" charset="0"/>
                <a:ea typeface="Tahoma" panose="020B0604030504040204" pitchFamily="34" charset="0"/>
                <a:cs typeface="Tahoma" panose="020B0604030504040204" pitchFamily="34" charset="0"/>
              </a:rPr>
              <a:t>Insight</a:t>
            </a:r>
          </a:p>
          <a:p>
            <a:r>
              <a:rPr lang="en-US" sz="2000" dirty="0">
                <a:latin typeface="Tahoma" panose="020B0604030504040204" pitchFamily="34" charset="0"/>
                <a:ea typeface="Tahoma" panose="020B0604030504040204" pitchFamily="34" charset="0"/>
                <a:cs typeface="Tahoma" panose="020B0604030504040204" pitchFamily="34" charset="0"/>
              </a:rPr>
              <a:t>This is critical:</a:t>
            </a:r>
          </a:p>
          <a:p>
            <a:r>
              <a:rPr lang="en-US" sz="2000" dirty="0">
                <a:latin typeface="Tahoma" panose="020B0604030504040204" pitchFamily="34" charset="0"/>
                <a:ea typeface="Tahoma" panose="020B0604030504040204" pitchFamily="34" charset="0"/>
                <a:cs typeface="Tahoma" panose="020B0604030504040204" pitchFamily="34" charset="0"/>
              </a:rPr>
              <a:t>The company is losing </a:t>
            </a:r>
            <a:r>
              <a:rPr lang="en-US" sz="2000" b="1" dirty="0">
                <a:latin typeface="Tahoma" panose="020B0604030504040204" pitchFamily="34" charset="0"/>
                <a:ea typeface="Tahoma" panose="020B0604030504040204" pitchFamily="34" charset="0"/>
                <a:cs typeface="Tahoma" panose="020B0604030504040204" pitchFamily="34" charset="0"/>
              </a:rPr>
              <a:t>high-value customers</a:t>
            </a:r>
            <a:r>
              <a:rPr lang="en-US" sz="2000" dirty="0">
                <a:latin typeface="Tahoma" panose="020B0604030504040204" pitchFamily="34" charset="0"/>
                <a:ea typeface="Tahoma" panose="020B0604030504040204" pitchFamily="34" charset="0"/>
                <a:cs typeface="Tahoma" panose="020B0604030504040204" pitchFamily="34" charset="0"/>
              </a:rPr>
              <a:t>, which directly impacts profitability.</a:t>
            </a:r>
          </a:p>
          <a:p>
            <a:endParaRPr lang="en-US" dirty="0"/>
          </a:p>
        </p:txBody>
      </p:sp>
    </p:spTree>
    <p:extLst>
      <p:ext uri="{BB962C8B-B14F-4D97-AF65-F5344CB8AC3E}">
        <p14:creationId xmlns:p14="http://schemas.microsoft.com/office/powerpoint/2010/main" val="205796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E18E-90A2-5F1C-B3F0-FFFF557EB41B}"/>
              </a:ext>
            </a:extLst>
          </p:cNvPr>
          <p:cNvSpPr>
            <a:spLocks noGrp="1"/>
          </p:cNvSpPr>
          <p:nvPr>
            <p:ph type="title"/>
          </p:nvPr>
        </p:nvSpPr>
        <p:spPr/>
        <p:txBody>
          <a:bodyPr/>
          <a:lstStyle/>
          <a:p>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KEY FINDINGS SUMMARY</a:t>
            </a:r>
          </a:p>
        </p:txBody>
      </p:sp>
      <p:sp>
        <p:nvSpPr>
          <p:cNvPr id="4" name="Rectangle 1">
            <a:extLst>
              <a:ext uri="{FF2B5EF4-FFF2-40B4-BE49-F238E27FC236}">
                <a16:creationId xmlns:a16="http://schemas.microsoft.com/office/drawing/2014/main" id="{7698FAB9-542B-35F1-F496-FCAC15334EE1}"/>
              </a:ext>
            </a:extLst>
          </p:cNvPr>
          <p:cNvSpPr>
            <a:spLocks noGrp="1" noChangeArrowheads="1"/>
          </p:cNvSpPr>
          <p:nvPr>
            <p:ph idx="1"/>
          </p:nvPr>
        </p:nvSpPr>
        <p:spPr bwMode="auto">
          <a:xfrm>
            <a:off x="385859" y="2065706"/>
            <a:ext cx="642290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Customer service calls are a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strong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predictor of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critical threshold (high call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Tahoma" panose="020B0604030504040204" pitchFamily="34" charset="0"/>
                <a:ea typeface="Tahoma" panose="020B0604030504040204" pitchFamily="34" charset="0"/>
                <a:cs typeface="Tahoma" panose="020B0604030504040204" pitchFamily="34" charset="0"/>
              </a:rPr>
              <a:t>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frequency) </a:t>
            </a: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significantly increases churn</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Tahoma" panose="020B0604030504040204" pitchFamily="34" charset="0"/>
                <a:ea typeface="Tahoma" panose="020B0604030504040204" pitchFamily="34" charset="0"/>
                <a:cs typeface="Tahoma" panose="020B0604030504040204" pitchFamily="34" charset="0"/>
              </a:rPr>
              <a:t>  </a:t>
            </a: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Customers with international plans are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more likely to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Voice mail plans improve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customer retention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High-value customers are being lost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Heavy usage correlates with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Regional differences indicate </a:t>
            </a:r>
            <a:r>
              <a:rPr kumimoji="0" lang="en-US" altLang="en-US" sz="240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service quality issues</a:t>
            </a:r>
          </a:p>
        </p:txBody>
      </p:sp>
      <p:pic>
        <p:nvPicPr>
          <p:cNvPr id="6" name="Picture 5">
            <a:extLst>
              <a:ext uri="{FF2B5EF4-FFF2-40B4-BE49-F238E27FC236}">
                <a16:creationId xmlns:a16="http://schemas.microsoft.com/office/drawing/2014/main" id="{AD5E7820-ED7F-B61D-E3E0-14E4D63F2C92}"/>
              </a:ext>
            </a:extLst>
          </p:cNvPr>
          <p:cNvPicPr>
            <a:picLocks noChangeAspect="1"/>
          </p:cNvPicPr>
          <p:nvPr/>
        </p:nvPicPr>
        <p:blipFill>
          <a:blip r:embed="rId2"/>
          <a:stretch>
            <a:fillRect/>
          </a:stretch>
        </p:blipFill>
        <p:spPr>
          <a:xfrm>
            <a:off x="7318809" y="3357087"/>
            <a:ext cx="4754618" cy="3500913"/>
          </a:xfrm>
          <a:prstGeom prst="rect">
            <a:avLst/>
          </a:prstGeom>
        </p:spPr>
      </p:pic>
    </p:spTree>
    <p:extLst>
      <p:ext uri="{BB962C8B-B14F-4D97-AF65-F5344CB8AC3E}">
        <p14:creationId xmlns:p14="http://schemas.microsoft.com/office/powerpoint/2010/main" val="3484855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D1841-EC9F-33D7-E22E-A68A9D8EEBDE}"/>
              </a:ext>
            </a:extLst>
          </p:cNvPr>
          <p:cNvSpPr>
            <a:spLocks noGrp="1"/>
          </p:cNvSpPr>
          <p:nvPr>
            <p:ph type="title"/>
          </p:nvPr>
        </p:nvSpPr>
        <p:spPr>
          <a:xfrm>
            <a:off x="646111" y="452718"/>
            <a:ext cx="9404723" cy="968119"/>
          </a:xfrm>
        </p:spPr>
        <p:txBody>
          <a:bodyPr/>
          <a:lstStyle/>
          <a:p>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BUSINESS RECOMMENDATIONS</a:t>
            </a:r>
          </a:p>
        </p:txBody>
      </p:sp>
      <p:sp>
        <p:nvSpPr>
          <p:cNvPr id="3" name="Content Placeholder 2">
            <a:extLst>
              <a:ext uri="{FF2B5EF4-FFF2-40B4-BE49-F238E27FC236}">
                <a16:creationId xmlns:a16="http://schemas.microsoft.com/office/drawing/2014/main" id="{93C2B5CD-5766-5DE9-76AB-0D1DB360E742}"/>
              </a:ext>
            </a:extLst>
          </p:cNvPr>
          <p:cNvSpPr>
            <a:spLocks noGrp="1"/>
          </p:cNvSpPr>
          <p:nvPr>
            <p:ph sz="half" idx="1"/>
          </p:nvPr>
        </p:nvSpPr>
        <p:spPr>
          <a:xfrm>
            <a:off x="281354" y="1575582"/>
            <a:ext cx="5218297" cy="4829699"/>
          </a:xfrm>
        </p:spPr>
        <p:txBody>
          <a:bodyPr>
            <a:normAutofit fontScale="70000" lnSpcReduction="20000"/>
          </a:bodyPr>
          <a:lstStyle/>
          <a:p>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1. Improve Customer Service Efficiency</a:t>
            </a:r>
          </a:p>
          <a:p>
            <a:r>
              <a:rPr lang="en-US" sz="2300" dirty="0">
                <a:latin typeface="Tahoma" panose="020B0604030504040204" pitchFamily="34" charset="0"/>
                <a:ea typeface="Tahoma" panose="020B0604030504040204" pitchFamily="34" charset="0"/>
                <a:cs typeface="Tahoma" panose="020B0604030504040204" pitchFamily="34" charset="0"/>
              </a:rPr>
              <a:t>Resolve issues within </a:t>
            </a:r>
            <a:r>
              <a:rPr lang="en-US" sz="2300" b="1" dirty="0">
                <a:latin typeface="Tahoma" panose="020B0604030504040204" pitchFamily="34" charset="0"/>
                <a:ea typeface="Tahoma" panose="020B0604030504040204" pitchFamily="34" charset="0"/>
                <a:cs typeface="Tahoma" panose="020B0604030504040204" pitchFamily="34" charset="0"/>
              </a:rPr>
              <a:t>1–2 calls</a:t>
            </a:r>
            <a:endParaRPr lang="en-US" sz="2300" dirty="0">
              <a:latin typeface="Tahoma" panose="020B0604030504040204" pitchFamily="34" charset="0"/>
              <a:ea typeface="Tahoma" panose="020B0604030504040204" pitchFamily="34" charset="0"/>
              <a:cs typeface="Tahoma" panose="020B0604030504040204" pitchFamily="34" charset="0"/>
            </a:endParaRPr>
          </a:p>
          <a:p>
            <a:r>
              <a:rPr lang="en-US" sz="2300" dirty="0">
                <a:latin typeface="Tahoma" panose="020B0604030504040204" pitchFamily="34" charset="0"/>
                <a:ea typeface="Tahoma" panose="020B0604030504040204" pitchFamily="34" charset="0"/>
                <a:cs typeface="Tahoma" panose="020B0604030504040204" pitchFamily="34" charset="0"/>
              </a:rPr>
              <a:t>Introduce escalation after </a:t>
            </a:r>
            <a:r>
              <a:rPr lang="en-US" sz="2300" b="1" dirty="0">
                <a:latin typeface="Tahoma" panose="020B0604030504040204" pitchFamily="34" charset="0"/>
                <a:ea typeface="Tahoma" panose="020B0604030504040204" pitchFamily="34" charset="0"/>
                <a:cs typeface="Tahoma" panose="020B0604030504040204" pitchFamily="34" charset="0"/>
              </a:rPr>
              <a:t>3 calls</a:t>
            </a:r>
            <a:endParaRPr lang="en-US" sz="2300" dirty="0">
              <a:latin typeface="Tahoma" panose="020B0604030504040204" pitchFamily="34" charset="0"/>
              <a:ea typeface="Tahoma" panose="020B0604030504040204" pitchFamily="34" charset="0"/>
              <a:cs typeface="Tahoma" panose="020B0604030504040204" pitchFamily="34" charset="0"/>
            </a:endParaRPr>
          </a:p>
          <a:p>
            <a:r>
              <a:rPr lang="en-US" sz="2600" b="1" dirty="0">
                <a:solidFill>
                  <a:schemeClr val="bg1"/>
                </a:solidFill>
                <a:latin typeface="Tahoma" panose="020B0604030504040204" pitchFamily="34" charset="0"/>
                <a:ea typeface="Tahoma" panose="020B0604030504040204" pitchFamily="34" charset="0"/>
                <a:cs typeface="Tahoma" panose="020B0604030504040204" pitchFamily="34" charset="0"/>
              </a:rPr>
              <a:t>2. Introduce Churn Early Warning System</a:t>
            </a:r>
          </a:p>
          <a:p>
            <a:r>
              <a:rPr lang="en-US" sz="2300" dirty="0">
                <a:latin typeface="Tahoma" panose="020B0604030504040204" pitchFamily="34" charset="0"/>
                <a:ea typeface="Tahoma" panose="020B0604030504040204" pitchFamily="34" charset="0"/>
                <a:cs typeface="Tahoma" panose="020B0604030504040204" pitchFamily="34" charset="0"/>
              </a:rPr>
              <a:t>Flag customers with:</a:t>
            </a:r>
          </a:p>
          <a:p>
            <a:pPr lvl="1"/>
            <a:r>
              <a:rPr lang="en-US" sz="2300" dirty="0">
                <a:latin typeface="Tahoma" panose="020B0604030504040204" pitchFamily="34" charset="0"/>
                <a:ea typeface="Tahoma" panose="020B0604030504040204" pitchFamily="34" charset="0"/>
                <a:cs typeface="Tahoma" panose="020B0604030504040204" pitchFamily="34" charset="0"/>
              </a:rPr>
              <a:t>High service calls</a:t>
            </a:r>
          </a:p>
          <a:p>
            <a:pPr lvl="1"/>
            <a:r>
              <a:rPr lang="en-US" sz="2300" dirty="0">
                <a:latin typeface="Tahoma" panose="020B0604030504040204" pitchFamily="34" charset="0"/>
                <a:ea typeface="Tahoma" panose="020B0604030504040204" pitchFamily="34" charset="0"/>
                <a:cs typeface="Tahoma" panose="020B0604030504040204" pitchFamily="34" charset="0"/>
              </a:rPr>
              <a:t>High usage</a:t>
            </a:r>
          </a:p>
          <a:p>
            <a:r>
              <a:rPr lang="en-US" sz="2300" dirty="0">
                <a:latin typeface="Tahoma" panose="020B0604030504040204" pitchFamily="34" charset="0"/>
                <a:ea typeface="Tahoma" panose="020B0604030504040204" pitchFamily="34" charset="0"/>
                <a:cs typeface="Tahoma" panose="020B0604030504040204" pitchFamily="34" charset="0"/>
              </a:rPr>
              <a:t>Trigger retention offers automatically</a:t>
            </a:r>
            <a:br>
              <a:rPr lang="en-US" sz="2100" dirty="0">
                <a:latin typeface="Tahoma" panose="020B0604030504040204" pitchFamily="34" charset="0"/>
                <a:ea typeface="Tahoma" panose="020B0604030504040204" pitchFamily="34" charset="0"/>
                <a:cs typeface="Tahoma" panose="020B0604030504040204" pitchFamily="34" charset="0"/>
              </a:rPr>
            </a:br>
            <a:endParaRPr lang="en-US" sz="2100" dirty="0">
              <a:latin typeface="Tahoma" panose="020B0604030504040204" pitchFamily="34" charset="0"/>
              <a:ea typeface="Tahoma" panose="020B0604030504040204" pitchFamily="34" charset="0"/>
              <a:cs typeface="Tahoma" panose="020B0604030504040204" pitchFamily="34" charset="0"/>
            </a:endParaRPr>
          </a:p>
          <a:p>
            <a:r>
              <a:rPr lang="en-US" sz="3100" b="1" dirty="0">
                <a:solidFill>
                  <a:schemeClr val="bg1"/>
                </a:solidFill>
                <a:latin typeface="Tahoma" panose="020B0604030504040204" pitchFamily="34" charset="0"/>
                <a:ea typeface="Tahoma" panose="020B0604030504040204" pitchFamily="34" charset="0"/>
                <a:cs typeface="Tahoma" panose="020B0604030504040204" pitchFamily="34" charset="0"/>
              </a:rPr>
              <a:t>3. Re-evaluate International Plan Pricing</a:t>
            </a:r>
          </a:p>
          <a:p>
            <a:r>
              <a:rPr lang="en-US" sz="2300" dirty="0">
                <a:latin typeface="Tahoma" panose="020B0604030504040204" pitchFamily="34" charset="0"/>
                <a:ea typeface="Tahoma" panose="020B0604030504040204" pitchFamily="34" charset="0"/>
                <a:cs typeface="Tahoma" panose="020B0604030504040204" pitchFamily="34" charset="0"/>
              </a:rPr>
              <a:t>Review cost structure</a:t>
            </a:r>
          </a:p>
          <a:p>
            <a:r>
              <a:rPr lang="en-US" sz="2300" dirty="0">
                <a:latin typeface="Tahoma" panose="020B0604030504040204" pitchFamily="34" charset="0"/>
                <a:ea typeface="Tahoma" panose="020B0604030504040204" pitchFamily="34" charset="0"/>
                <a:cs typeface="Tahoma" panose="020B0604030504040204" pitchFamily="34" charset="0"/>
              </a:rPr>
              <a:t>Benchmark against competitors</a:t>
            </a:r>
          </a:p>
          <a:p>
            <a:endParaRPr lang="en-US" dirty="0"/>
          </a:p>
        </p:txBody>
      </p:sp>
      <p:sp>
        <p:nvSpPr>
          <p:cNvPr id="4" name="Content Placeholder 3">
            <a:extLst>
              <a:ext uri="{FF2B5EF4-FFF2-40B4-BE49-F238E27FC236}">
                <a16:creationId xmlns:a16="http://schemas.microsoft.com/office/drawing/2014/main" id="{A852AC50-3A45-9DDA-BB90-11140BC4A46D}"/>
              </a:ext>
            </a:extLst>
          </p:cNvPr>
          <p:cNvSpPr>
            <a:spLocks noGrp="1"/>
          </p:cNvSpPr>
          <p:nvPr>
            <p:ph sz="half" idx="2"/>
          </p:nvPr>
        </p:nvSpPr>
        <p:spPr>
          <a:xfrm>
            <a:off x="5654493" y="1575582"/>
            <a:ext cx="6256153" cy="4680755"/>
          </a:xfrm>
        </p:spPr>
        <p:txBody>
          <a:bodyPr>
            <a:normAutofit fontScale="70000" lnSpcReduction="20000"/>
          </a:bodyPr>
          <a:lstStyle/>
          <a:p>
            <a:r>
              <a:rPr lang="en-US" sz="3400" b="1" dirty="0">
                <a:solidFill>
                  <a:schemeClr val="bg1"/>
                </a:solidFill>
                <a:latin typeface="Tahoma" panose="020B0604030504040204" pitchFamily="34" charset="0"/>
                <a:ea typeface="Tahoma" panose="020B0604030504040204" pitchFamily="34" charset="0"/>
                <a:cs typeface="Tahoma" panose="020B0604030504040204" pitchFamily="34" charset="0"/>
              </a:rPr>
              <a:t>4. Promote Voice Mail Adoption</a:t>
            </a:r>
          </a:p>
          <a:p>
            <a:r>
              <a:rPr lang="en-US" sz="2900" dirty="0">
                <a:latin typeface="Tahoma" panose="020B0604030504040204" pitchFamily="34" charset="0"/>
                <a:ea typeface="Tahoma" panose="020B0604030504040204" pitchFamily="34" charset="0"/>
                <a:cs typeface="Tahoma" panose="020B0604030504040204" pitchFamily="34" charset="0"/>
              </a:rPr>
              <a:t>Bundle with other plans</a:t>
            </a:r>
          </a:p>
          <a:p>
            <a:r>
              <a:rPr lang="en-US" sz="2900" dirty="0">
                <a:latin typeface="Tahoma" panose="020B0604030504040204" pitchFamily="34" charset="0"/>
                <a:ea typeface="Tahoma" panose="020B0604030504040204" pitchFamily="34" charset="0"/>
                <a:cs typeface="Tahoma" panose="020B0604030504040204" pitchFamily="34" charset="0"/>
              </a:rPr>
              <a:t>Offer as free add-on</a:t>
            </a:r>
          </a:p>
          <a:p>
            <a:r>
              <a:rPr lang="en-US" sz="3400" b="1" dirty="0">
                <a:solidFill>
                  <a:schemeClr val="bg1"/>
                </a:solidFill>
                <a:latin typeface="Tahoma" panose="020B0604030504040204" pitchFamily="34" charset="0"/>
                <a:ea typeface="Tahoma" panose="020B0604030504040204" pitchFamily="34" charset="0"/>
                <a:cs typeface="Tahoma" panose="020B0604030504040204" pitchFamily="34" charset="0"/>
              </a:rPr>
              <a:t>5. Retain High-Value Customers</a:t>
            </a:r>
          </a:p>
          <a:p>
            <a:r>
              <a:rPr lang="en-US" sz="2600" dirty="0">
                <a:latin typeface="Tahoma" panose="020B0604030504040204" pitchFamily="34" charset="0"/>
                <a:ea typeface="Tahoma" panose="020B0604030504040204" pitchFamily="34" charset="0"/>
                <a:cs typeface="Tahoma" panose="020B0604030504040204" pitchFamily="34" charset="0"/>
              </a:rPr>
              <a:t>Provide loyalty rewards</a:t>
            </a:r>
          </a:p>
          <a:p>
            <a:r>
              <a:rPr lang="en-US" sz="2600" dirty="0">
                <a:latin typeface="Tahoma" panose="020B0604030504040204" pitchFamily="34" charset="0"/>
                <a:ea typeface="Tahoma" panose="020B0604030504040204" pitchFamily="34" charset="0"/>
                <a:cs typeface="Tahoma" panose="020B0604030504040204" pitchFamily="34" charset="0"/>
              </a:rPr>
              <a:t>Offer personalized discounts</a:t>
            </a:r>
          </a:p>
          <a:p>
            <a:endParaRPr lang="en-US" sz="2600" dirty="0">
              <a:latin typeface="Tahoma" panose="020B0604030504040204" pitchFamily="34" charset="0"/>
              <a:ea typeface="Tahoma" panose="020B0604030504040204" pitchFamily="34" charset="0"/>
              <a:cs typeface="Tahoma" panose="020B0604030504040204" pitchFamily="34" charset="0"/>
            </a:endParaRPr>
          </a:p>
          <a:p>
            <a:r>
              <a:rPr lang="en-US" sz="3400" b="1" dirty="0">
                <a:solidFill>
                  <a:schemeClr val="bg1"/>
                </a:solidFill>
                <a:latin typeface="Tahoma" panose="020B0604030504040204" pitchFamily="34" charset="0"/>
                <a:ea typeface="Tahoma" panose="020B0604030504040204" pitchFamily="34" charset="0"/>
                <a:cs typeface="Tahoma" panose="020B0604030504040204" pitchFamily="34" charset="0"/>
              </a:rPr>
              <a:t>6. Address Regional Issues</a:t>
            </a:r>
          </a:p>
          <a:p>
            <a:r>
              <a:rPr lang="en-US" sz="2600" dirty="0">
                <a:latin typeface="Tahoma" panose="020B0604030504040204" pitchFamily="34" charset="0"/>
                <a:ea typeface="Tahoma" panose="020B0604030504040204" pitchFamily="34" charset="0"/>
                <a:cs typeface="Tahoma" panose="020B0604030504040204" pitchFamily="34" charset="0"/>
              </a:rPr>
              <a:t>Investigate high-churn states</a:t>
            </a:r>
          </a:p>
          <a:p>
            <a:r>
              <a:rPr lang="en-US" sz="2600" dirty="0">
                <a:latin typeface="Tahoma" panose="020B0604030504040204" pitchFamily="34" charset="0"/>
                <a:ea typeface="Tahoma" panose="020B0604030504040204" pitchFamily="34" charset="0"/>
                <a:cs typeface="Tahoma" panose="020B0604030504040204" pitchFamily="34" charset="0"/>
              </a:rPr>
              <a:t>Improve network/service quality</a:t>
            </a:r>
          </a:p>
          <a:p>
            <a:endParaRPr lang="en-US" dirty="0"/>
          </a:p>
        </p:txBody>
      </p:sp>
    </p:spTree>
    <p:extLst>
      <p:ext uri="{BB962C8B-B14F-4D97-AF65-F5344CB8AC3E}">
        <p14:creationId xmlns:p14="http://schemas.microsoft.com/office/powerpoint/2010/main" val="371741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E536-A982-0087-CE51-7E3559734C2D}"/>
              </a:ext>
            </a:extLst>
          </p:cNvPr>
          <p:cNvSpPr>
            <a:spLocks noGrp="1"/>
          </p:cNvSpPr>
          <p:nvPr>
            <p:ph type="title"/>
          </p:nvPr>
        </p:nvSpPr>
        <p:spPr/>
        <p:txBody>
          <a:bodyPr/>
          <a:lstStyle/>
          <a:p>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CONCLUSION</a:t>
            </a:r>
          </a:p>
        </p:txBody>
      </p:sp>
      <p:sp>
        <p:nvSpPr>
          <p:cNvPr id="3" name="Content Placeholder 2">
            <a:extLst>
              <a:ext uri="{FF2B5EF4-FFF2-40B4-BE49-F238E27FC236}">
                <a16:creationId xmlns:a16="http://schemas.microsoft.com/office/drawing/2014/main" id="{02AA13BC-BF8D-A6DD-18BD-B607BC776FE0}"/>
              </a:ext>
            </a:extLst>
          </p:cNvPr>
          <p:cNvSpPr>
            <a:spLocks noGrp="1"/>
          </p:cNvSpPr>
          <p:nvPr>
            <p:ph idx="1"/>
          </p:nvPr>
        </p:nvSpPr>
        <p:spPr/>
        <p:txBody>
          <a:bodyPr/>
          <a:lstStyle/>
          <a:p>
            <a:r>
              <a:rPr lang="en-US" sz="2800" dirty="0">
                <a:latin typeface="Tahoma" panose="020B0604030504040204" pitchFamily="34" charset="0"/>
                <a:ea typeface="Tahoma" panose="020B0604030504040204" pitchFamily="34" charset="0"/>
                <a:cs typeface="Tahoma" panose="020B0604030504040204" pitchFamily="34" charset="0"/>
              </a:rPr>
              <a:t>The analysis demonstrates that customer churn in Orange Telecom is influenced by a combination of:</a:t>
            </a:r>
          </a:p>
          <a:p>
            <a:r>
              <a:rPr lang="en-US" sz="2800" dirty="0">
                <a:latin typeface="Tahoma" panose="020B0604030504040204" pitchFamily="34" charset="0"/>
                <a:ea typeface="Tahoma" panose="020B0604030504040204" pitchFamily="34" charset="0"/>
                <a:cs typeface="Tahoma" panose="020B0604030504040204" pitchFamily="34" charset="0"/>
              </a:rPr>
              <a:t>Service experience</a:t>
            </a:r>
          </a:p>
          <a:p>
            <a:r>
              <a:rPr lang="en-US" sz="2800" dirty="0">
                <a:latin typeface="Tahoma" panose="020B0604030504040204" pitchFamily="34" charset="0"/>
                <a:ea typeface="Tahoma" panose="020B0604030504040204" pitchFamily="34" charset="0"/>
                <a:cs typeface="Tahoma" panose="020B0604030504040204" pitchFamily="34" charset="0"/>
              </a:rPr>
              <a:t>Pricing and plan structure</a:t>
            </a:r>
          </a:p>
          <a:p>
            <a:r>
              <a:rPr lang="en-US" sz="2800" dirty="0">
                <a:latin typeface="Tahoma" panose="020B0604030504040204" pitchFamily="34" charset="0"/>
                <a:ea typeface="Tahoma" panose="020B0604030504040204" pitchFamily="34" charset="0"/>
                <a:cs typeface="Tahoma" panose="020B0604030504040204" pitchFamily="34" charset="0"/>
              </a:rPr>
              <a:t>Customer usage behavior</a:t>
            </a:r>
          </a:p>
          <a:p>
            <a:r>
              <a:rPr lang="en-US" sz="2800" dirty="0">
                <a:latin typeface="Tahoma" panose="020B0604030504040204" pitchFamily="34" charset="0"/>
                <a:ea typeface="Tahoma" panose="020B0604030504040204" pitchFamily="34" charset="0"/>
                <a:cs typeface="Tahoma" panose="020B0604030504040204" pitchFamily="34" charset="0"/>
              </a:rPr>
              <a:t>By addressing these areas strategically, the company can significantly </a:t>
            </a:r>
            <a:r>
              <a:rPr lang="en-US" sz="2800" b="1" dirty="0">
                <a:latin typeface="Tahoma" panose="020B0604030504040204" pitchFamily="34" charset="0"/>
                <a:ea typeface="Tahoma" panose="020B0604030504040204" pitchFamily="34" charset="0"/>
                <a:cs typeface="Tahoma" panose="020B0604030504040204" pitchFamily="34" charset="0"/>
              </a:rPr>
              <a:t>reduce churn and improve customer lifetime value</a:t>
            </a:r>
            <a:r>
              <a:rPr lang="en-US" sz="2800"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p:spTree>
    <p:extLst>
      <p:ext uri="{BB962C8B-B14F-4D97-AF65-F5344CB8AC3E}">
        <p14:creationId xmlns:p14="http://schemas.microsoft.com/office/powerpoint/2010/main" val="2512650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43</TotalTime>
  <Words>676</Words>
  <Application>Microsoft Office PowerPoint</Application>
  <PresentationFormat>Widescreen</PresentationFormat>
  <Paragraphs>113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Tahoma</vt:lpstr>
      <vt:lpstr>Wingdings 3</vt:lpstr>
      <vt:lpstr>Ion</vt:lpstr>
      <vt:lpstr>ORANGE TELECOM CHURN ANALYSIS DASHBOARD</vt:lpstr>
      <vt:lpstr>INTRODUCTION</vt:lpstr>
      <vt:lpstr>OVERVIEW OF KEY METRICS</vt:lpstr>
      <vt:lpstr>CUSTOMER SERVICE PERFORMANCE ANALYSIS</vt:lpstr>
      <vt:lpstr>CUSTOMER SERVICE PERFORMANCE ANALYSIS</vt:lpstr>
      <vt:lpstr>PLAN &amp; USAGE DRIVERS ANALYSIS</vt:lpstr>
      <vt:lpstr>PLAN &amp; USAGE DRIVERS ANALYSIS</vt:lpstr>
      <vt:lpstr>KEY FINDINGS SUMMARY</vt:lpstr>
      <vt:lpstr>BUSINESS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cp:revision>
  <dcterms:created xsi:type="dcterms:W3CDTF">2026-03-18T11:30:46Z</dcterms:created>
  <dcterms:modified xsi:type="dcterms:W3CDTF">2026-03-18T12:14:18Z</dcterms:modified>
</cp:coreProperties>
</file>